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Drills</c:v>
                </c:pt>
              </c:strCache>
            </c:strRef>
          </c:tx>
          <c:spPr>
            <a:solidFill>
              <a:srgbClr val="8B5CF6"/>
            </a:solidFill>
            <a:ln w="28575" cap="flat">
              <a:solidFill>
                <a:srgbClr val="8B5CF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B5CF6"/>
              </a:solidFill>
              <a:ln w="9525" cap="flat">
                <a:solidFill>
                  <a:srgbClr val="8B5CF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W1</c:v>
                  </c:pt>
                  <c:pt idx="1">
                    <c:v>W2</c:v>
                  </c:pt>
                  <c:pt idx="2">
                    <c:v>W3</c:v>
                  </c:pt>
                  <c:pt idx="3">
                    <c:v>W4</c:v>
                  </c:pt>
                  <c:pt idx="4">
                    <c:v>W5</c:v>
                  </c:pt>
                  <c:pt idx="5">
                    <c:v>W6</c:v>
                  </c:pt>
                  <c:pt idx="6">
                    <c:v>W7</c:v>
                  </c:pt>
                  <c:pt idx="7">
                    <c:v>W8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120</c:v>
                </c:pt>
                <c:pt idx="1">
                  <c:v>185</c:v>
                </c:pt>
                <c:pt idx="2">
                  <c:v>240</c:v>
                </c:pt>
                <c:pt idx="3">
                  <c:v>290</c:v>
                </c:pt>
                <c:pt idx="4">
                  <c:v>380</c:v>
                </c:pt>
                <c:pt idx="5">
                  <c:v>470</c:v>
                </c:pt>
                <c:pt idx="6">
                  <c:v>590</c:v>
                </c:pt>
                <c:pt idx="7">
                  <c:v>720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7272A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3175" cap="flat">
              <a:solidFill>
                <a:srgbClr val="27272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27272A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A0A0F"/>
        </a:solidFill>
        <a:ln>
          <a:noFill/>
        </a:ln>
        <a:effectLst/>
      </c:spPr>
    </c:plotArea>
    <c:plotVisOnly val="1"/>
    <c:dispBlanksAs val="span"/>
  </c:chart>
  <c:spPr>
    <a:solidFill>
      <a:srgbClr val="0A0A0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SPEAKBOLD  ·  INVESTOR PITCH  ·  2026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183880" y="457200"/>
            <a:ext cx="164592" cy="16459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0" y="4114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i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Public speaking,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i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gymified.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457200" y="3520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feedback. Ranked battles. Daily drills.  Free for everyone.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4617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2026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520440" y="4617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4617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speakbold.app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i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Speaking is the #1 skill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i="1" dirty="0">
                <a:solidFill>
                  <a:srgbClr val="A1A1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nobody teaches.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457200" y="2743200"/>
            <a:ext cx="2606040" cy="1691640"/>
          </a:xfrm>
          <a:prstGeom prst="rect">
            <a:avLst/>
          </a:prstGeom>
          <a:solidFill>
            <a:srgbClr val="15151F"/>
          </a:solidFill>
          <a:ln w="6350">
            <a:solidFill>
              <a:srgbClr val="272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8803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i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75%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85800" y="3703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adults fear public speaking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4114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Chapman Survey of American Fears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46120" y="2743200"/>
            <a:ext cx="2606040" cy="1691640"/>
          </a:xfrm>
          <a:prstGeom prst="rect">
            <a:avLst/>
          </a:prstGeom>
          <a:solidFill>
            <a:srgbClr val="15151F"/>
          </a:solidFill>
          <a:ln w="6350">
            <a:solidFill>
              <a:srgbClr val="2727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28803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i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$15K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474720" y="3703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cost of a private speaking coach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0" y="4114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ICF coaching benchmark, 2024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035040" y="2743200"/>
            <a:ext cx="2606040" cy="1691640"/>
          </a:xfrm>
          <a:prstGeom prst="rect">
            <a:avLst/>
          </a:prstGeom>
          <a:solidFill>
            <a:srgbClr val="15151F"/>
          </a:solidFill>
          <a:ln w="6350">
            <a:solidFill>
              <a:srgbClr val="2727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28803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i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/ mo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263640" y="3703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best-case live feedback session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63640" y="4114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Toastmasters chapter cadence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SPEAKBOLD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8580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THE HIDDEN TAX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A1A1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year,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4572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0" i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$2.4B</a:t>
            </a:r>
            <a:endParaRPr lang="en-US" sz="16000" dirty="0"/>
          </a:p>
        </p:txBody>
      </p:sp>
      <p:sp>
        <p:nvSpPr>
          <p:cNvPr id="5" name="Text 3"/>
          <p:cNvSpPr/>
          <p:nvPr/>
        </p:nvSpPr>
        <p:spPr>
          <a:xfrm>
            <a:off x="457200" y="34290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lost to botched pitches, blown interviews,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promotions that never came.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394960" y="960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SHOWS UP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394960" y="1325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INTERVIEW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903720" y="13075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freeze on the behavioral question.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94960" y="1965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CALL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903720" y="19476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value prop dies in filler words.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394960" y="2606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ALL-HANDS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903720" y="25877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idea gets ignored, not adopted.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94960" y="32461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CONFERENCE TALK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03720" y="32278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read slides. Nobody remembers.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94960" y="3886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903720" y="38679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students stay invisible.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SPEAKBOLD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8580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THE SOLUTION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i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Speak. </a:t>
            </a:r>
            <a:pPr indent="0" marL="0">
              <a:buNone/>
            </a:pPr>
            <a:r>
              <a:rPr lang="en-US" sz="5000" i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 judged. </a:t>
            </a:r>
            <a:pPr indent="0" marL="0">
              <a:buNone/>
            </a:pPr>
            <a:r>
              <a:rPr lang="en-US" sz="5000" i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 better.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457200" y="1874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practice gym for the spoken word — built around the only feedback loop that works: do, score, refine.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697480"/>
            <a:ext cx="2606040" cy="1920240"/>
          </a:xfrm>
          <a:prstGeom prst="rect">
            <a:avLst/>
          </a:prstGeom>
          <a:solidFill>
            <a:srgbClr val="15151F"/>
          </a:solidFill>
          <a:ln w="6350">
            <a:solidFill>
              <a:srgbClr val="2727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834640"/>
            <a:ext cx="502920" cy="502920"/>
          </a:xfrm>
          <a:prstGeom prst="ellipse">
            <a:avLst/>
          </a:prstGeom>
          <a:solidFill>
            <a:srgbClr val="8B5CF6">
              <a:alpha val="20000"/>
            </a:srgbClr>
          </a:solidFill>
          <a:ln w="9525">
            <a:solidFill>
              <a:srgbClr val="8B5CF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2935224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429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85800" y="3822192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app, hit record. A timed drill, a debate motion, a pitch prompt — anything. Within 60 seconds you're talking out loud.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46120" y="2697480"/>
            <a:ext cx="2606040" cy="1920240"/>
          </a:xfrm>
          <a:prstGeom prst="rect">
            <a:avLst/>
          </a:prstGeom>
          <a:solidFill>
            <a:srgbClr val="15151F"/>
          </a:solidFill>
          <a:ln w="6350">
            <a:solidFill>
              <a:srgbClr val="27272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74720" y="2834640"/>
            <a:ext cx="502920" cy="502920"/>
          </a:xfrm>
          <a:prstGeom prst="ellipse">
            <a:avLst/>
          </a:prstGeom>
          <a:solidFill>
            <a:srgbClr val="F59E0B">
              <a:alpha val="20000"/>
            </a:srgbClr>
          </a:solidFill>
          <a:ln w="9525">
            <a:solidFill>
              <a:srgbClr val="F59E0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304" y="2935224"/>
            <a:ext cx="301752" cy="3017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74720" y="3429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 judged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3474720" y="3822192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panel scores delivery, structure, and substance against a rubric. You get specifics — not vibes, not a 5-star wave.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6035040" y="2697480"/>
            <a:ext cx="2606040" cy="1920240"/>
          </a:xfrm>
          <a:prstGeom prst="rect">
            <a:avLst/>
          </a:prstGeom>
          <a:solidFill>
            <a:srgbClr val="15151F"/>
          </a:solidFill>
          <a:ln w="6350">
            <a:solidFill>
              <a:srgbClr val="27272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263640" y="2834640"/>
            <a:ext cx="502920" cy="502920"/>
          </a:xfrm>
          <a:prstGeom prst="ellipse">
            <a:avLst/>
          </a:prstGeom>
          <a:solidFill>
            <a:srgbClr val="06B6D4">
              <a:alpha val="20000"/>
            </a:srgbClr>
          </a:solidFill>
          <a:ln w="9525">
            <a:solidFill>
              <a:srgbClr val="06B6D4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224" y="2935224"/>
            <a:ext cx="301752" cy="30175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63640" y="3429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 better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6263640" y="3822192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Arena battles vs AI personas and live opponents. Daily streaks, ELO rank, weekly leaderboards. It compounds.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4572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SPEAKBOLD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68580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PRODUCT FLOW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surfaces, one feedback loop.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i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26060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Pathway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curriculum.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337560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chapters take you from frozen to fluent. Each unlocks the next. Drills are short — 30 to 90 seconds — and judged on the spot.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43891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UP → TAKE THE STAGE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246120" y="169164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i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3246120" y="26060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246120" y="30175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practice.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46120" y="3337560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any prompt, any duration, any difficulty. Topic-aware AI generates a fresh challenge every time. Recordings save to your archive.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46120" y="43891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DRILLS · CUSTOM PROMPTS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035040" y="169164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i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7200" dirty="0"/>
          </a:p>
        </p:txBody>
      </p:sp>
      <p:sp>
        <p:nvSpPr>
          <p:cNvPr id="15" name="Text 13"/>
          <p:cNvSpPr/>
          <p:nvPr/>
        </p:nvSpPr>
        <p:spPr>
          <a:xfrm>
            <a:off x="6035040" y="26060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Arena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035040" y="30175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battles.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35040" y="3337560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1v1 debates against four AI personas with distinct voices. Score-aware ELO across 5 ranks. Bo3 series. Weekly leaderboard. Daily streak.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35040" y="43891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BLITZ · DEBATE · PITCH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572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SPEAKBOLD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8580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PATHWAY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curriculum that builds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confidence by repetition.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2423160"/>
            <a:ext cx="1920240" cy="2103120"/>
          </a:xfrm>
          <a:prstGeom prst="rect">
            <a:avLst/>
          </a:prstGeom>
          <a:solidFill>
            <a:srgbClr val="15151F"/>
          </a:solidFill>
          <a:ln w="6350">
            <a:solidFill>
              <a:srgbClr val="2727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423160"/>
            <a:ext cx="54864" cy="21031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56032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 Up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329184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drills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361188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Breathing, pacing, posture. The fundamentals that survive nerves.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60320" y="2423160"/>
            <a:ext cx="1920240" cy="2103120"/>
          </a:xfrm>
          <a:prstGeom prst="rect">
            <a:avLst/>
          </a:prstGeom>
          <a:solidFill>
            <a:srgbClr val="15151F"/>
          </a:solidFill>
          <a:ln w="6350">
            <a:solidFill>
              <a:srgbClr val="2727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0" y="2423160"/>
            <a:ext cx="54864" cy="21031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0" y="256032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743200" y="28346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 Clear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743200" y="329184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drills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743200" y="361188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Structure, signposting, filler-word control. Your point lands.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63440" y="2423160"/>
            <a:ext cx="1920240" cy="2103120"/>
          </a:xfrm>
          <a:prstGeom prst="rect">
            <a:avLst/>
          </a:prstGeom>
          <a:solidFill>
            <a:srgbClr val="15151F"/>
          </a:solidFill>
          <a:ln w="6350">
            <a:solidFill>
              <a:srgbClr val="2727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2423160"/>
            <a:ext cx="54864" cy="2103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56032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846320" y="28346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Sound Confident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846320" y="329184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drills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46320" y="361188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Tone, emphasis, rhythm. People believe what you're saying.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766560" y="2423160"/>
            <a:ext cx="1920240" cy="2103120"/>
          </a:xfrm>
          <a:prstGeom prst="rect">
            <a:avLst/>
          </a:prstGeom>
          <a:solidFill>
            <a:srgbClr val="15151F"/>
          </a:solidFill>
          <a:ln w="6350">
            <a:solidFill>
              <a:srgbClr val="27272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66560" y="2423160"/>
            <a:ext cx="54864" cy="21031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0" y="256032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949440" y="28346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 the Stage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949440" y="329184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drills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949440" y="361188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Q&amp;A, hostile audiences, hard questions. Real stakes.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drills · ~6 hours · unlocked sequentially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SPEAKBOLD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8580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12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ARENA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i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it gets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i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addictive.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1v1 speaking battles. Real AI voices answer back. The ladder remembers everything.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3108960"/>
            <a:ext cx="274320" cy="274320"/>
          </a:xfrm>
          <a:prstGeom prst="ellipse">
            <a:avLst/>
          </a:prstGeom>
          <a:solidFill>
            <a:srgbClr val="8B5CF6">
              <a:alpha val="18000"/>
            </a:srgbClr>
          </a:solidFill>
          <a:ln w="6350">
            <a:solidFill>
              <a:srgbClr val="8B5CF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" y="3159252"/>
            <a:ext cx="173736" cy="1737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072384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AI personas — Echo, LogicBot, Persuado, NeuroJudge — each with a unique Deepgram Aura voice.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3611880"/>
            <a:ext cx="274320" cy="274320"/>
          </a:xfrm>
          <a:prstGeom prst="ellipse">
            <a:avLst/>
          </a:prstGeom>
          <a:solidFill>
            <a:srgbClr val="8B5CF6">
              <a:alpha val="18000"/>
            </a:srgbClr>
          </a:solidFill>
          <a:ln w="6350">
            <a:solidFill>
              <a:srgbClr val="8B5CF6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" y="3662172"/>
            <a:ext cx="173736" cy="1737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22960" y="3575304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Score-aware ELO across 5 ranks × 3 tiers. Margin matters; squeaker wins move ELO less.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57200" y="4114800"/>
            <a:ext cx="274320" cy="274320"/>
          </a:xfrm>
          <a:prstGeom prst="ellipse">
            <a:avLst/>
          </a:prstGeom>
          <a:solidFill>
            <a:srgbClr val="8B5CF6">
              <a:alpha val="18000"/>
            </a:srgbClr>
          </a:solidFill>
          <a:ln w="6350">
            <a:solidFill>
              <a:srgbClr val="8B5CF6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" y="4165092"/>
            <a:ext cx="173736" cy="1737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2960" y="4078224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streak · Bo3 ranked series · weekly leaderboard reset.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5577840" y="914400"/>
            <a:ext cx="3108960" cy="3657600"/>
          </a:xfrm>
          <a:prstGeom prst="rect">
            <a:avLst/>
          </a:prstGeom>
          <a:solidFill>
            <a:srgbClr val="15151F"/>
          </a:solidFill>
          <a:ln w="6350">
            <a:solidFill>
              <a:srgbClr val="27272A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5806440" y="10972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 ·  RANKED</a:t>
            </a:r>
            <a:endParaRPr lang="en-US" sz="800" dirty="0"/>
          </a:p>
        </p:txBody>
      </p:sp>
      <p:sp>
        <p:nvSpPr>
          <p:cNvPr id="17" name="Shape 12"/>
          <p:cNvSpPr/>
          <p:nvPr/>
        </p:nvSpPr>
        <p:spPr>
          <a:xfrm>
            <a:off x="7223760" y="1124712"/>
            <a:ext cx="109728" cy="109728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5806440" y="1417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II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5806440" y="16916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i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1,427</a:t>
            </a:r>
            <a:endParaRPr lang="en-US" sz="6400" dirty="0"/>
          </a:p>
        </p:txBody>
      </p:sp>
      <p:sp>
        <p:nvSpPr>
          <p:cNvPr id="20" name="Text 15"/>
          <p:cNvSpPr/>
          <p:nvPr/>
        </p:nvSpPr>
        <p:spPr>
          <a:xfrm>
            <a:off x="5806440" y="2697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5806440" y="3063240"/>
            <a:ext cx="2651760" cy="73152"/>
          </a:xfrm>
          <a:prstGeom prst="rect">
            <a:avLst/>
          </a:prstGeom>
          <a:solidFill>
            <a:srgbClr val="27272A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806440" y="3063240"/>
            <a:ext cx="10058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5806440" y="3200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373 points until Gold I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5806440" y="36576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</a:t>
            </a:r>
            <a:endParaRPr lang="en-US" sz="2400" dirty="0"/>
          </a:p>
        </p:txBody>
      </p:sp>
      <p:sp>
        <p:nvSpPr>
          <p:cNvPr id="25" name="Text 20"/>
          <p:cNvSpPr/>
          <p:nvPr/>
        </p:nvSpPr>
        <p:spPr>
          <a:xfrm>
            <a:off x="5806440" y="41148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</a:t>
            </a:r>
            <a:endParaRPr lang="en-US" sz="750" dirty="0"/>
          </a:p>
        </p:txBody>
      </p:sp>
      <p:sp>
        <p:nvSpPr>
          <p:cNvPr id="26" name="Text 21"/>
          <p:cNvSpPr/>
          <p:nvPr/>
        </p:nvSpPr>
        <p:spPr>
          <a:xfrm>
            <a:off x="6720840" y="36576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</a:t>
            </a:r>
            <a:endParaRPr lang="en-US" sz="2400" dirty="0"/>
          </a:p>
        </p:txBody>
      </p:sp>
      <p:sp>
        <p:nvSpPr>
          <p:cNvPr id="27" name="Text 22"/>
          <p:cNvSpPr/>
          <p:nvPr/>
        </p:nvSpPr>
        <p:spPr>
          <a:xfrm>
            <a:off x="6720840" y="41148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LOSSES</a:t>
            </a:r>
            <a:endParaRPr lang="en-US" sz="750" dirty="0"/>
          </a:p>
        </p:txBody>
      </p:sp>
      <p:sp>
        <p:nvSpPr>
          <p:cNvPr id="28" name="Text 23"/>
          <p:cNvSpPr/>
          <p:nvPr/>
        </p:nvSpPr>
        <p:spPr>
          <a:xfrm>
            <a:off x="7635240" y="36576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+5</a:t>
            </a:r>
            <a:endParaRPr lang="en-US" sz="2400" dirty="0"/>
          </a:p>
        </p:txBody>
      </p:sp>
      <p:sp>
        <p:nvSpPr>
          <p:cNvPr id="29" name="Text 24"/>
          <p:cNvSpPr/>
          <p:nvPr/>
        </p:nvSpPr>
        <p:spPr>
          <a:xfrm>
            <a:off x="7635240" y="41148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</a:t>
            </a:r>
            <a:endParaRPr lang="en-US" sz="750" dirty="0"/>
          </a:p>
        </p:txBody>
      </p:sp>
      <p:sp>
        <p:nvSpPr>
          <p:cNvPr id="30" name="Text 25"/>
          <p:cNvSpPr/>
          <p:nvPr/>
        </p:nvSpPr>
        <p:spPr>
          <a:xfrm>
            <a:off x="4572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SPEAKBOLD</a:t>
            </a:r>
            <a:endParaRPr lang="en-US" sz="800" dirty="0"/>
          </a:p>
        </p:txBody>
      </p:sp>
      <p:sp>
        <p:nvSpPr>
          <p:cNvPr id="31" name="Text 26"/>
          <p:cNvSpPr/>
          <p:nvPr/>
        </p:nvSpPr>
        <p:spPr>
          <a:xfrm>
            <a:off x="68580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12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THE AI STACK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i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never let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i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AI fail.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 layers of fallback. Zero per-user API cost. Sub-2-second median feedback latency.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834640"/>
            <a:ext cx="1938528" cy="1554480"/>
          </a:xfrm>
          <a:prstGeom prst="rect">
            <a:avLst/>
          </a:prstGeom>
          <a:solidFill>
            <a:srgbClr val="15151F"/>
          </a:solidFill>
          <a:ln w="6350">
            <a:solidFill>
              <a:srgbClr val="272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29443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21792" y="32004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OpenRouter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21792" y="358444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free models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21792" y="382219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R1 · Gemma 3 · Mistral 7B · Llama 3.1 8B · Phi-3 · Llama 3.2 3B</a:t>
            </a:r>
            <a:endParaRPr lang="en-US" sz="8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4872" y="3520440"/>
            <a:ext cx="137160" cy="13716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2578608" y="2834640"/>
            <a:ext cx="1938528" cy="1554480"/>
          </a:xfrm>
          <a:prstGeom prst="rect">
            <a:avLst/>
          </a:prstGeom>
          <a:solidFill>
            <a:srgbClr val="15151F"/>
          </a:solidFill>
          <a:ln w="6350">
            <a:solidFill>
              <a:srgbClr val="27272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43200" y="29443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2743200" y="32004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Gemini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2743200" y="358444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model variants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2743200" y="382219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2.0 Flash · Flash-Lite · 2.5 Preview</a:t>
            </a:r>
            <a:endParaRPr lang="en-US" sz="8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3520440"/>
            <a:ext cx="137160" cy="13716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700016" y="2834640"/>
            <a:ext cx="1938528" cy="1554480"/>
          </a:xfrm>
          <a:prstGeom prst="rect">
            <a:avLst/>
          </a:prstGeom>
          <a:solidFill>
            <a:srgbClr val="15151F"/>
          </a:solidFill>
          <a:ln w="6350">
            <a:solidFill>
              <a:srgbClr val="27272A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864608" y="29443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4864608" y="32004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Groq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4864608" y="358444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last-resort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4864608" y="382219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3.3 70B Versatile · Llama 3.1 8B Instant</a:t>
            </a:r>
            <a:endParaRPr lang="en-US" sz="8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7688" y="3520440"/>
            <a:ext cx="137160" cy="137160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6821424" y="2834640"/>
            <a:ext cx="1938528" cy="1554480"/>
          </a:xfrm>
          <a:prstGeom prst="rect">
            <a:avLst/>
          </a:prstGeom>
          <a:solidFill>
            <a:srgbClr val="15151F"/>
          </a:solidFill>
          <a:ln w="6350">
            <a:solidFill>
              <a:srgbClr val="27272A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986016" y="29443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50" dirty="0"/>
          </a:p>
        </p:txBody>
      </p:sp>
      <p:sp>
        <p:nvSpPr>
          <p:cNvPr id="26" name="Text 21"/>
          <p:cNvSpPr/>
          <p:nvPr/>
        </p:nvSpPr>
        <p:spPr>
          <a:xfrm>
            <a:off x="6986016" y="32004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Heuristic</a:t>
            </a:r>
            <a:endParaRPr lang="en-US" sz="1800" dirty="0"/>
          </a:p>
        </p:txBody>
      </p:sp>
      <p:sp>
        <p:nvSpPr>
          <p:cNvPr id="27" name="Text 22"/>
          <p:cNvSpPr/>
          <p:nvPr/>
        </p:nvSpPr>
        <p:spPr>
          <a:xfrm>
            <a:off x="6986016" y="358444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returns a verdict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6986016" y="382219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Score-by-engagement fallback. The session never dies on the user.</a:t>
            </a:r>
            <a:endParaRPr lang="en-US" sz="800" dirty="0"/>
          </a:p>
        </p:txBody>
      </p:sp>
      <p:sp>
        <p:nvSpPr>
          <p:cNvPr id="29" name="Text 24"/>
          <p:cNvSpPr/>
          <p:nvPr/>
        </p:nvSpPr>
        <p:spPr>
          <a:xfrm>
            <a:off x="457200" y="45262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I/O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1554480" y="451713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Deepgram Nova-2 transcription  +  Aura TTS (12 voices, persona-stable hash) — all on a free $200 credit.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4572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SPEAKBOLD</a:t>
            </a:r>
            <a:endParaRPr lang="en-US" sz="800" dirty="0"/>
          </a:p>
        </p:txBody>
      </p:sp>
      <p:sp>
        <p:nvSpPr>
          <p:cNvPr id="32" name="Text 27"/>
          <p:cNvSpPr/>
          <p:nvPr/>
        </p:nvSpPr>
        <p:spPr>
          <a:xfrm>
            <a:off x="68580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12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MARKET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i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Big market.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i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winner yet.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80160" y="21945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i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$87B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3703320" y="237744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EdTech — the umbrella we live under.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80160" y="29718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i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$4.2B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3703320" y="315468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&amp; soft-skills training, online-first.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886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3749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i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$420M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3703320" y="393192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Speaking-app early adopters in EN-speaking markets.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INCUMBENTS DON'T WIN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72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SPEAKBOLD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8580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12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TRACTION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Early, but the loop is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already addictive.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2606040" cy="1371600"/>
          </a:xfrm>
          <a:prstGeom prst="rect">
            <a:avLst/>
          </a:prstGeom>
          <a:solidFill>
            <a:srgbClr val="15151F"/>
          </a:solidFill>
          <a:ln w="6350">
            <a:solidFill>
              <a:srgbClr val="272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4231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i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2,400+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85800" y="3200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drills completed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34747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beta launch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46120" y="2331720"/>
            <a:ext cx="2606040" cy="1371600"/>
          </a:xfrm>
          <a:prstGeom prst="rect">
            <a:avLst/>
          </a:prstGeom>
          <a:solidFill>
            <a:srgbClr val="15151F"/>
          </a:solidFill>
          <a:ln w="6350">
            <a:solidFill>
              <a:srgbClr val="2727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24231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i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87%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474720" y="3200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next-day return rate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0" y="34747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Duolingo's D1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35040" y="2331720"/>
            <a:ext cx="2606040" cy="1371600"/>
          </a:xfrm>
          <a:prstGeom prst="rect">
            <a:avLst/>
          </a:prstGeom>
          <a:solidFill>
            <a:srgbClr val="15151F"/>
          </a:solidFill>
          <a:ln w="6350">
            <a:solidFill>
              <a:srgbClr val="2727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24231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i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14m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263640" y="3200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session length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63640" y="34747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3m for typical EdTech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3886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DRILLS COMPLETED</a:t>
            </a:r>
            <a:endParaRPr lang="en-US" sz="85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457200" y="4160520"/>
          <a:ext cx="8229600" cy="777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Text 16"/>
          <p:cNvSpPr/>
          <p:nvPr/>
        </p:nvSpPr>
        <p:spPr>
          <a:xfrm>
            <a:off x="4572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SPEAKBOLD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68580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BUSINESS MODEL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i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 core.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i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Premium edge.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457200" y="2377440"/>
            <a:ext cx="4069080" cy="2286000"/>
          </a:xfrm>
          <a:prstGeom prst="rect">
            <a:avLst/>
          </a:prstGeom>
          <a:solidFill>
            <a:srgbClr val="15151F"/>
          </a:solidFill>
          <a:ln w="6350">
            <a:solidFill>
              <a:srgbClr val="272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514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FOREVER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i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2286000" y="3154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69417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60120" y="370332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Pathway curriculum (29 drills)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385876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60120" y="386791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— unlimited custom drills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40233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60120" y="403250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 — ranked battles, ELO ladder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" y="418795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60120" y="419709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streak · weekly leaderboard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" y="435254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60120" y="436168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feedback on every attempt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17720" y="2377440"/>
            <a:ext cx="4069080" cy="2286000"/>
          </a:xfrm>
          <a:prstGeom prst="rect">
            <a:avLst/>
          </a:prstGeom>
          <a:solidFill>
            <a:srgbClr val="15151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2514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SPEAKBOLD PRO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92040" y="28346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i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</a:t>
            </a:r>
            <a:endParaRPr lang="en-US" sz="5000" dirty="0"/>
          </a:p>
        </p:txBody>
      </p:sp>
      <p:sp>
        <p:nvSpPr>
          <p:cNvPr id="22" name="Text 20"/>
          <p:cNvSpPr/>
          <p:nvPr/>
        </p:nvSpPr>
        <p:spPr>
          <a:xfrm>
            <a:off x="6446520" y="3154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month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92040" y="369417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120640" y="370332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Aura TTS battle minutes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92040" y="385876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120640" y="386791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Body-language video analysis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92040" y="40233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120640" y="403250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AI judges (rubric editor)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92040" y="418795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120640" y="419709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Spaced-repetition drill scheduling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92040" y="435254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120640" y="436168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queue · advanced analytics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B2B  ·  </a:t>
            </a:r>
            <a:pPr indent="0" marL="0">
              <a:buNone/>
            </a:pPr>
            <a:r>
              <a:rPr lang="en-US" sz="950" i="1" spc="200" kern="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SpeakBold Teams at $49/seat/mo — universities, sales orgs, comms training.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572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SPEAKBOLD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8580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·  THE ASK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A1A1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Raising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i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$1.2M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457200" y="27889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seed.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52044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months of runway. Three engineers, two designers, one growth lead.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0" y="10058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0" y="13716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400800" y="13716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0" y="16642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· video analysis · live human duels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0" y="21488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400800" y="21488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0" y="24414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partnerships · campus chapters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0" y="29260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400800" y="29260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0" y="32186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ML eng · DesignOps lead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solidFill>
            <a:srgbClr val="15151F"/>
          </a:solidFill>
          <a:ln w="15875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4805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Join us. </a:t>
            </a:r>
            <a:pPr indent="0" marL="0">
              <a:buNone/>
            </a:pPr>
            <a:r>
              <a:rPr lang="en-US" sz="1600" i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next generation of speakers is being trained </a:t>
            </a:r>
            <a:pPr indent="0" marL="0">
              <a:buNone/>
            </a:pPr>
            <a:r>
              <a:rPr lang="en-US" sz="1600" i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right now.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50292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hello@speakbold.app   ·   speakbold.app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SpeakBold — Investor Pitch 2026</dc:title>
  <dc:subject>PptxGenJS Presentation</dc:subject>
  <dc:creator>SpeakBold</dc:creator>
  <cp:lastModifiedBy>SpeakBold</cp:lastModifiedBy>
  <cp:revision>1</cp:revision>
  <dcterms:created xsi:type="dcterms:W3CDTF">2026-05-24T08:53:41Z</dcterms:created>
  <dcterms:modified xsi:type="dcterms:W3CDTF">2026-05-24T08:53:41Z</dcterms:modified>
</cp:coreProperties>
</file>